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바코드 스캐너 비유로 확률변수가 '함수'임을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146304" cy="1463040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확률변수와 확률분포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461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C9D3E3"/>
                </a:solidFill>
                <a:latin typeface="Malgun Gothic"/>
                <a:ea typeface="Malgun Gothic"/>
                <a:cs typeface="Malgun Gothic"/>
              </a:rPr>
              <a:t>불확실한 결과를 숫자로 다루는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3949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· 대학교 1학년 공학 기초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4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확률변수의 뜻과 표기 이해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4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이산확률변수의 확률분포·확률질량함수 이해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4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연속확률변수의 확률밀도함수와 </a:t>
            </a:r>
            <a:r>
              <a:rPr sz="2400" b="1">
                <a:solidFill>
                  <a:srgbClr val="E07A2E"/>
                </a:solidFill>
                <a:latin typeface="Malgun Gothic"/>
                <a:ea typeface="Malgun Gothic"/>
                <a:cs typeface="Malgun Gothic"/>
              </a:rPr>
              <a:t>넓이 = 확률</a:t>
            </a:r>
            <a:r>
              <a:rPr sz="24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 이해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확률변수란?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pic>
        <p:nvPicPr>
          <p:cNvPr id="6" name="Picture 5" descr="barcode_scanner.jpg"/>
          <p:cNvPicPr>
            <a:picLocks noChangeAspect="1"/>
          </p:cNvPicPr>
          <p:nvPr/>
        </p:nvPicPr>
        <p:blipFill>
          <a:blip r:embed="rId3"/>
          <a:srcRect l="7339" r="7339"/>
          <a:stretch>
            <a:fillRect/>
          </a:stretch>
        </p:blipFill>
        <p:spPr>
          <a:xfrm>
            <a:off x="457200" y="1280160"/>
            <a:ext cx="566928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1732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303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확률변수 = 결과를 숫자로 바꾸는 바코드 스캐너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566160"/>
            <a:ext cx="530352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1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물건(결과) → 스캔 → 가격(숫자)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1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결과마다 숫자 하나씩 대응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1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같은 숫자에 여러 결과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동전 2번 던지기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834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표본공간 S = {HH, HT, TH, TT}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X = 앞면의 개수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X의 값: 0, 1,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89304"/>
            <a:ext cx="8302752" cy="4702302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oinMapp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229600" cy="4629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075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▶ 영상을 클릭하면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이산 vs 연속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pic>
        <p:nvPicPr>
          <p:cNvPr id="6" name="Picture 5" descr="marbles.jpg"/>
          <p:cNvPicPr>
            <a:picLocks noChangeAspect="1"/>
          </p:cNvPicPr>
          <p:nvPr/>
        </p:nvPicPr>
        <p:blipFill>
          <a:blip r:embed="rId2"/>
          <a:srcRect t="13333" b="13333"/>
          <a:stretch>
            <a:fillRect/>
          </a:stretch>
        </p:blipFill>
        <p:spPr>
          <a:xfrm>
            <a:off x="457200" y="1280160"/>
            <a:ext cx="5486400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389120"/>
            <a:ext cx="548640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이산: 셀 수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구슬 개수처럼 띄엄띄엄한 값</a:t>
            </a:r>
          </a:p>
        </p:txBody>
      </p:sp>
      <p:pic>
        <p:nvPicPr>
          <p:cNvPr id="10" name="Picture 9" descr="water.jpg"/>
          <p:cNvPicPr>
            <a:picLocks noChangeAspect="1"/>
          </p:cNvPicPr>
          <p:nvPr/>
        </p:nvPicPr>
        <p:blipFill>
          <a:blip r:embed="rId3"/>
          <a:srcRect t="29499" b="29499"/>
          <a:stretch>
            <a:fillRect/>
          </a:stretch>
        </p:blipFill>
        <p:spPr>
          <a:xfrm>
            <a:off x="6236208" y="1280160"/>
            <a:ext cx="5486400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36208" y="4389120"/>
            <a:ext cx="5486400" cy="548640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4389120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연속: 잴 수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502920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물의 양처럼 구간의 모든 실수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419088"/>
            <a:ext cx="9052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사진: Joe Mabel / CC BY-SA 3.0 / Wikimedia Commons · 사진: Hasan Hagi / CC BY 3.0 / Wikimedia Commons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확률분포: 표와 그래프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834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막대 높이 = 확률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모든 확률의 합 =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89304"/>
            <a:ext cx="8302752" cy="4702302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MFBar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229600" cy="4629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075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▶ 영상을 클릭하면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많이 던질수록?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834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상대도수 → 이론 확률분포에 근접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89304"/>
            <a:ext cx="8302752" cy="4702302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DiceSu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229600" cy="4629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075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▶ 영상을 클릭하면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연속확률변수: 확률 = 넓이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834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X: 0~10 사이 모든 실수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f(x) = 1/10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확률 = 직사각형 넓이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89304"/>
            <a:ext cx="8302752" cy="4702302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UniformSubwa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229600" cy="4629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075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▶ 영상을 클릭하면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한 점의 확률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pic>
        <p:nvPicPr>
          <p:cNvPr id="6" name="Picture 5" descr="dartboard.jpg"/>
          <p:cNvPicPr>
            <a:picLocks noChangeAspect="1"/>
          </p:cNvPicPr>
          <p:nvPr/>
        </p:nvPicPr>
        <p:blipFill>
          <a:blip r:embed="rId2"/>
          <a:srcRect t="8172" b="8172"/>
          <a:stretch>
            <a:fillRect/>
          </a:stretch>
        </p:blipFill>
        <p:spPr>
          <a:xfrm>
            <a:off x="457200" y="1280160"/>
            <a:ext cx="566928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1732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303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다트가 정확히 한 점에 꽂힐 확률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566160"/>
            <a:ext cx="530352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1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점은 넓이 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1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구간에 꽂힐 확률만 의미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419088"/>
            <a:ext cx="6766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사진: kallerna / CC BY-SA 3.0 / Wikimedia Commons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정확히 5분일 확률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834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폭 → 0이면 넓이 → 0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P(a≤X≤b) = P(a&lt;X&lt;b)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89304"/>
            <a:ext cx="8302752" cy="4702302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ointZe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229600" cy="4629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075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▶ 영상을 클릭하면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히스토그램 → 확률밀도함수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834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계급 폭 → 0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매끄러운 곡선 = 확률밀도함수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89304"/>
            <a:ext cx="8302752" cy="4702302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HistToCurv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229600" cy="4629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075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▶ 영상을 클릭하면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확률밀도함수의 성질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834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f(x) 값 자체는 확률 아님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넓이만 확률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89304"/>
            <a:ext cx="8302752" cy="4702302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AreaPro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229600" cy="4629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075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▶ 영상을 클릭하면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문제: f(x) = kx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834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전체 넓이 = 1로 k 결정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▸ 구하는 확률 = 부분 넓이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89304"/>
            <a:ext cx="8302752" cy="4702302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TriangleK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229600" cy="4629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075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▶ 영상을 클릭하면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확률과 통계 · L01 확률변수와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7589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76218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76218" cy="7315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576218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확률변수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119018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결과 → 실수 대응 함수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371600"/>
            <a:ext cx="3576218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371600"/>
            <a:ext cx="3576218" cy="731520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738" y="1371600"/>
            <a:ext cx="3576218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2286000"/>
            <a:ext cx="3119018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확률질량함수 P(X=x)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확률의 합 =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8276" y="1371600"/>
            <a:ext cx="3576218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371600"/>
            <a:ext cx="3576218" cy="731520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1371600"/>
            <a:ext cx="3576218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876" y="2286000"/>
            <a:ext cx="3119018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확률밀도함수 f(x)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•  넓이 = 확률, 한 점 확률 =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